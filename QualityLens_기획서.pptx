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78" r:id="rId3"/>
    <p:sldId id="279" r:id="rId4"/>
    <p:sldId id="280" r:id="rId5"/>
    <p:sldId id="273" r:id="rId6"/>
    <p:sldId id="281" r:id="rId7"/>
    <p:sldId id="283" r:id="rId8"/>
    <p:sldId id="282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1B23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833"/>
    <p:restoredTop sz="94648"/>
  </p:normalViewPr>
  <p:slideViewPr>
    <p:cSldViewPr snapToGrid="0">
      <p:cViewPr varScale="1">
        <p:scale>
          <a:sx n="95" d="100"/>
          <a:sy n="95" d="100"/>
        </p:scale>
        <p:origin x="20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2" Type="http://customschemas.google.com/relationships/presentationmetadata" Target="metadata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8" name="Google Shape;88;p1"/>
          <p:cNvSpPr txBox="1"/>
          <p:nvPr/>
        </p:nvSpPr>
        <p:spPr>
          <a:xfrm>
            <a:off x="2631231" y="1570963"/>
            <a:ext cx="6929531" cy="1366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3600" b="1" dirty="0">
                <a:solidFill>
                  <a:srgbClr val="202124"/>
                </a:solidFill>
                <a:latin typeface="Pretendard_KR"/>
                <a:ea typeface="Malgun Gothic" panose="020B0503020000020004" pitchFamily="50" charset="-127"/>
              </a:rPr>
              <a:t>2026</a:t>
            </a:r>
            <a:r>
              <a:rPr lang="ko-KR" altLang="en-US" sz="3600" b="1" dirty="0">
                <a:solidFill>
                  <a:srgbClr val="202124"/>
                </a:solidFill>
                <a:latin typeface="Pretendard_KR"/>
                <a:ea typeface="Malgun Gothic" panose="020B0503020000020004" pitchFamily="50" charset="-127"/>
              </a:rPr>
              <a:t> 스마트 공장 운영 시스템 </a:t>
            </a:r>
            <a:r>
              <a:rPr lang="en-US" altLang="ko-KR" sz="3600" b="1" dirty="0">
                <a:solidFill>
                  <a:srgbClr val="202124"/>
                </a:solidFill>
                <a:latin typeface="Pretendard_KR"/>
                <a:ea typeface="Malgun Gothic" panose="020B0503020000020004" pitchFamily="50" charset="-127"/>
              </a:rPr>
              <a:t>MVP </a:t>
            </a:r>
            <a:r>
              <a:rPr lang="ko-KR" altLang="en-US" sz="3600" b="1" dirty="0">
                <a:solidFill>
                  <a:srgbClr val="202124"/>
                </a:solidFill>
                <a:latin typeface="Pretendard_KR"/>
                <a:ea typeface="Malgun Gothic" panose="020B0503020000020004" pitchFamily="50" charset="-127"/>
              </a:rPr>
              <a:t>개발 </a:t>
            </a:r>
            <a:r>
              <a:rPr lang="ko-KR" altLang="en-US" sz="3600" b="1" dirty="0" err="1">
                <a:solidFill>
                  <a:srgbClr val="202124"/>
                </a:solidFill>
                <a:latin typeface="Pretendard_KR"/>
                <a:ea typeface="Malgun Gothic" panose="020B0503020000020004" pitchFamily="50" charset="-127"/>
              </a:rPr>
              <a:t>해커톤</a:t>
            </a:r>
            <a:endParaRPr lang="en-US" altLang="ko-KR" sz="3600" b="1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259346336"/>
              </p:ext>
            </p:extLst>
          </p:nvPr>
        </p:nvGraphicFramePr>
        <p:xfrm>
          <a:off x="3386675" y="4388003"/>
          <a:ext cx="5418650" cy="899000"/>
        </p:xfrm>
        <a:graphic>
          <a:graphicData uri="http://schemas.openxmlformats.org/drawingml/2006/table">
            <a:tbl>
              <a:tblPr firstRow="1" bandRow="1"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Malgun Gothic"/>
                        </a:defRPr>
                      </a:pPr>
                      <a:r>
                        <a:t>QualityLens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프로젝트명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Malgun Gothic"/>
                        </a:defRPr>
                      </a:pPr>
                      <a:r>
                        <a:t>QualityLens — AI 기반 스마트 품질 예측·원인 분석 통합 플랫폼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613855372"/>
                  </a:ext>
                </a:extLst>
              </a:tr>
            </a:tbl>
          </a:graphicData>
        </a:graphic>
      </p:graphicFrame>
      <p:cxnSp>
        <p:nvCxnSpPr>
          <p:cNvPr id="94" name="Google Shape;94;p1"/>
          <p:cNvCxnSpPr/>
          <p:nvPr/>
        </p:nvCxnSpPr>
        <p:spPr>
          <a:xfrm>
            <a:off x="2310447" y="2956202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88F6F64B-B445-0E07-4C6D-0A33DC6483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6EC716A2-5020-43D4-0492-05DB61857621}"/>
              </a:ext>
            </a:extLst>
          </p:cNvPr>
          <p:cNvSpPr txBox="1"/>
          <p:nvPr/>
        </p:nvSpPr>
        <p:spPr>
          <a:xfrm>
            <a:off x="4645453" y="3065537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b="0" i="0" dirty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예선 기획서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CB1259FB-3BC9-1F76-5145-01C9E5C371C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1.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A7330DB1-95E4-4D38-F6A4-9BB98AC14BD1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48CD7EDD-FD6F-B8B4-97AA-853BC09F0B0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31953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1. </a:t>
            </a:r>
            <a:r>
              <a:rPr lang="ko-KR" altLang="en-US" dirty="0">
                <a:latin typeface="+mj-ea"/>
                <a:ea typeface="+mj-ea"/>
              </a:rPr>
              <a:t>문제 정의 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E1A0B1D-D56D-F247-A463-80FCAC8780BB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해결하고자 하는 제조 현장의 문제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경기도 내 중소 전자부품·반도체 부품 제조사들은 사출, 도금, 식각, 열처리 등 복합 공정에서 발생하는 품질 불량에 대해 최종 검사 이후에야 불량을 확인하는 사후 대응 방식에 의존하고 있습니다. 각 공정 단계에서 수집되는 수백 개의 센서 데이터가 존재하지만, 전문 데이터 분석 인력이 부족한 중소기업 특성상 이 데이터를 품질 관리에 활용하지 못하고 있습니다.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적용 대상 및 영역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경기도 스마트공장 보급 확산 사업 대상인 중소 전자부품 제조사의 품질관리(QC) 부서 및 생산 현장. 특히 공정 중간 단계에서 불량 징후를 사전 감지하고, 현장 작업자가 즉각적인 공정 조건 조정을 할 수 있도록 지원하는 '예방적 품질 관리 플랫폼'을 목표로 합니다.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문제의 중요성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중소 제조기업의 평균 불량률은 3~8%이며, 불량 1건당 원자재·설비 가동 시간·재작업 비용 포함 수십만~수백만 원의 직접 손실 발생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전문 분석 인력 부재로 불량 원인 분석에 평균 2~3일 소요 → 같은 원인으로 반복 불량 발생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공정 변수 간 복합적 상호작용이 불량을 유발하므로 경험만으로는 근본 원인 파악이 어려움 → AI가 반드시 필요한 영역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KPI / 기대 변화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불량 사전 감지율: 0%(사후 검사) → 70%+ 공정 중간에서 사전 예측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불량 원인 분석 시간: 2~3일 → 실시간 (AI가 핵심 공정 변수와 기여도를 자동 제시)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연간 불량 관련 손실 비용: 20% 이상 절감 목표</a:t>
            </a:r>
          </a:p>
        </p:txBody>
      </p:sp>
      <p:sp>
        <p:nvSpPr>
          <p:cNvPr id="12" name="Google Shape;100;p2">
            <a:extLst>
              <a:ext uri="{FF2B5EF4-FFF2-40B4-BE49-F238E27FC236}">
                <a16:creationId xmlns:a16="http://schemas.microsoft.com/office/drawing/2014/main" id="{A89DAF47-A872-25DE-4F4E-6A35741F0D64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6BEB92B5-54A5-698D-BCC7-53FCC2DB53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2F5F4-E7D0-4278-C766-15538099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250B76DD-037A-6065-6C19-E692AEE22FB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37E35A3E-9640-A8FF-B4C4-60FCEC5351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AD104C8F-EA2D-31A6-F3F6-3F686D73F39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 txBox="1"/>
          <p:nvPr/>
        </p:nvSpPr>
        <p:spPr>
          <a:xfrm>
            <a:off x="939333" y="1189703"/>
            <a:ext cx="35531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1628004-1AB5-0077-6D18-66ED08E03B10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384030-AD97-CF1C-87BF-7D94D6FE4AED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제안하는 솔루션의 개요</a:t>
            </a:r>
            <a:endParaRPr lang="en-US" altLang="ko-KR" sz="1400" b="1" dirty="0">
              <a:solidFill>
                <a:srgbClr val="3C7CDE"/>
              </a:solidFill>
            </a:endParaRP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본 프로젝트는 'QualityLens' — 공정 센서 데이터 기반의 AI 품질 예측·원인 분석 통합 플랫폼을 제안합니다. 공정 진행 중 실시간으로 수집되는 센서 데이터를 AI 모델이 분석하여 불량 가능성이 높은 제품을 사전에 감지하고, 설명 가능 AI(XAI)를 통해 '어떤 공정 변수가 불량을 유발하고 있는지'를 현장 작업자 눈높이에서 시각적으로 제시합니다.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문제 해결을 위한 핵심 아이디어 — Predict → Explain → Act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Predict(예측): XGBoost 기반 분류 모델이 공정 센서 데이터를 입력받아 양품/불량을 실시간으로 예측. 제조 데이터의 극심한 클래스 불균형을 극복하기 위해 MCC 지표 기반 최적화 적용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Explain(설명): SHAP(SHapley Additive exPlanations)이 예측 결과의 근거를 공정 변수별 기여도로 분해하여 구체적으로 제시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Act(조치): SHAP 기여도 분석과 정상 양품 데이터의 통계적 기준(Threshold)을 결합한 Rule-based 조치 가이드를 대시보드에 즉각 표시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플랫폼의 목적 및 제공 가치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데이터 분석 전문가 없이도 현장 품질관리 담당자가 직접 활용할 수 있는 '셀프서비스형 AI 품질 관리 도구'를 제공합니다. 중소기업이 별도의 데이터팀 구축 없이 예방적 품질 관리를 즉시 도입할 수 있도록 하는 것이 목표입니다.</a:t>
            </a:r>
          </a:p>
          <a:p>
            <a:pPr algn="l">
              <a:spcAft>
                <a:spcPts val="200"/>
              </a:spcAft>
              <a:defRPr sz="1400" b="1">
                <a:solidFill>
                  <a:srgbClr val="202124"/>
                </a:solidFill>
                <a:latin typeface="Malgun Gothic"/>
              </a:defRPr>
            </a:pPr>
            <a:r>
              <a:t>전체 구성 요약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데이터 수집 — 센서 데이터 파이프라인 (MVP: 오픈 데이터셋 기반 실시간 스트리밍 시뮬레이터)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AI 엔진 — XGBoost + SHAP + Threshold Engine (불량 예측 + 원인 분석 + 조치 근거)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플랫폼 UI — Streamlit 멀티페이지 대시보드 (모니터링·예측·분석·조치·이력 관리)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조치 지원 — 알림 + 원클릭 조치 가이드 (이상 감지 시 작업자 알림 및 권장 조치 제시)</a:t>
            </a: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67E78191-AC7B-4431-6348-9F9503FA34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B25F51EC-3983-E3FC-5475-1180B8764FD0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7D086-7FAD-83A2-673F-CD401C76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AF58BFF4-5D90-B7BB-A5FB-15DD1784476A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CBEF9D9D-82FE-E102-BEBE-5DB9646F8C7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9F24ED86-00F9-D00A-872B-AD59A51EEFD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 txBox="1"/>
          <p:nvPr/>
        </p:nvSpPr>
        <p:spPr>
          <a:xfrm>
            <a:off x="939333" y="1189703"/>
            <a:ext cx="34338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주요 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DB46F3FE-8810-F742-96B1-76FE8CAEE9B6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B2C9FDC-589C-024C-4DAF-8D28BA7962EF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기능 1 — 실시간 공정 모니터링 &amp; 불량 예측 (Predict)</a:t>
            </a:r>
            <a:endParaRPr lang="en-US" altLang="ko-KR" sz="1400" b="1" dirty="0">
              <a:solidFill>
                <a:srgbClr val="3C7CDE"/>
              </a:solidFill>
            </a:endParaRP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공정 센서 데이터를 실시간으로 수집·시각화하고, XGBoost 모델이 배치별 양품/불량 확률을 산출합니다. 핵심 센서의 정상/경고/위험 상태를 3단계 컬러 코딩으로 표시하여, 비전문가도 즉시 공정 이상을 인지할 수 있습니다. 클래스 불균형 환경에서의 신뢰성 확보를 위해 MCC 기반 모델 평가를 적용합니다.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기능 2 — XAI 기반 불량 원인 분석 (Explain)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SHAP을 활용하여 모델의 예측 근거를 공정 변수별 기여도로 분해합니다. 글로벌 피처 중요도(전체 트렌드)와 개별 Waterfall(건별 원인)을 모두 제공하여, '전체적으로 어떤 변수가 중요한지'와 '이 배치가 왜 불량인지'를 동시에 파악할 수 있습니다.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기능 3 — 조치 가이드 &amp; 이력 관리 (Act)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SHAP이 지목한 핵심 이상 변수와 과거 양품 데이터의 통계적 정상 범위(Threshold)를 비교·분석하여, 현장 작업자에게 구체적인 조치 방향(예: '온도 센서 비정상 상승 감지 → 정상 권장 범위 165~175°C로 하향 조정 요망')을 대시보드에 즉각 팝업 형태로 제시합니다. 원클릭 수용 버튼으로 조치 이력이 자동 기록됩니다.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기능 간 연계 방식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세 기능은 독립적이지 않고 순환 루프를 구성합니다 — 예측 결과가 원인 분석의 입력이 되고, 분석 결과가 조치 가이드의 근거가 되며, 조치 결과가 다시 예측 모델의 학습 데이터로 피드백됩니다. 종합 대시보드(P1)가 이 전체 흐름의 허브 역할을 합니다.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본선 MVP 핵심 기능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P1(종합 대시보드), P2(실시간 예측), P3(원인 분석)의 완전한 파이프라인 구현을 필수로 진행합니다. P4(조치 가이드)는 핵심 불량 시나리오를 가정한 데모 화면을 구성하여, 예측부터 조치까지의 End-to-End 사용자 경험을 완벽하게 시연할 계획입니다.</a:t>
            </a: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65C56526-1A7E-EE3B-1FB2-69A678931E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F184EC9F-8B26-D1F2-0ED1-8EC31B8C41EE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486CC-5FEA-6E0F-6607-8B8860B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0A304978-B91A-D0F9-08E5-E6BCC204DD0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계획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 Plan)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21B79617-C1F0-52D3-B070-B0E157FFF20E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E96B855B-7B6A-B904-E1A4-9B512CAD7D8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 txBox="1"/>
          <p:nvPr/>
        </p:nvSpPr>
        <p:spPr>
          <a:xfrm>
            <a:off x="939332" y="1189703"/>
            <a:ext cx="40699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데이터 및 기술 활용 계획 </a:t>
            </a:r>
            <a:r>
              <a:rPr lang="en-US" altLang="ko-KR" dirty="0">
                <a:latin typeface="+mj-ea"/>
                <a:ea typeface="+mj-ea"/>
              </a:rPr>
              <a:t>(Data &amp; Tech Plan)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74598198-5F31-F6FA-47DC-AA9059C06E01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FC7CE-8E2B-C5DE-8F36-06CC621A459E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활용할 데이터 종류 및 특성</a:t>
            </a:r>
            <a:endParaRPr lang="en-US" altLang="ko-KR" sz="1400" b="1" dirty="0">
              <a:solidFill>
                <a:srgbClr val="3C7CDE"/>
              </a:solidFill>
            </a:endParaRP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주 데이터셋: UCI SECOM — 실제 반도체 제조 라인 데이터 (1,567샘플 × 591센서, 불량 104건/6.6%)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보조 데이터셋: Kaggle Smart Manufacturing Process Data — 직관적 공정 파라미터(온도/압력/진동/유량) 보강용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데이터 처리 방식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결측치 처리: 센서별 결측률 분석 → 고결측 피처 제거 + KNN Imputation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피처 선택: 분산 기반 필터링 + 상관관계 기반 중복 제거 → 상위 50~80개 핵심 피처 추출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클래스 밸런싱 &amp; 데이터 누수 방지: Stratified Split 이후 Train 데이터에만 SMOTE·정규화 적용하는 엄격한 Pipeline 구축으로 Data Leakage 차단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적용할 AI/분석 기술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XGBoost 분류 모델: 센서 데이터의 비선형 상호작용 학습, 빠른 추론 속도, GPU 불필요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SHAP (TreeExplainer): XGBoost 전용 고속 SHAP 연산으로 개별 예측의 피처별 기여도 실시간 분해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Threshold Engine: 양품 데이터의 센서별 통계 기준으로 조치 방향과 권장 범위 자동 생성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평가 지표: MCC(Matthews Correlation Coefficient) 주요 지표 + Precision-Recall 커브, F1-Score 보조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202124"/>
                </a:solidFill>
                <a:latin typeface="Malgun Gothic"/>
              </a:defRPr>
            </a:pPr>
            <a:r>
              <a:t>기술 스택: Streamlit | XGBoost | SHAP | Plotly | Pandas | scikit-learn | imbalanced-learn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기술적 제약 및 해결 전략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컴퓨팅 리소스 미제공 → Streamlit + XGBoost는 로컬 노트북에서 충분히 구동 (GPU 불필요)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실시간 센서 연동 불가 → 오픈 데이터셋 기반 스트리밍 시뮬레이터로 실시간 환경 재현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데이터 불균형 (6.6% 불량) → SMOTE + MCC 평가 + Stratified K-Fold 교차 검증</a:t>
            </a: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C3D6C61D-BBDC-1167-190C-BD4CD9BF21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A5283CA2-90DA-09BA-1082-399479A662C8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5F2F-DE76-5319-E068-14743C84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084726C7-DE11-80A0-7DC0-A7AA122EF941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Case)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9FEEE123-BAF0-A0FD-15FF-1DB31311C4F2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FD89DB19-FF6A-0CDA-AF62-F36E28F99C4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03726A74-16E1-92E8-6C23-4217F6189B6D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BE20A8A-50DC-1699-36DC-DE2652FD7726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주요 사용자 정의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페르소나 A — 김 과장 (QC 담당자): 공정 경력 8년, 데이터 분석 경험 없음, 엑셀 수준 IT 역량. 매일 P1~P4 전체 사용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페르소나 B — 박 팀장 (생산팀장): 주간 품질 리포트 검토, 의사결정권자. 주 1~2회 P1, P5 활용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대표 시나리오: 식각 공정 온도 이상 → 불량 급증 대응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Step 1 (08:30, P1 대시보드) — 김 과장 출근 후 QualityLens 접속. '금일 불량률 12.3% (+6.1%p)' 경고 확인. 알림 패널에서 '식각 공정 배치 #B-2247~#B-2251 연속 불량 감지' 알림 확인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Step 2 (08:35, P2 실시간 예측) — 진행 중 배치 #B-2252 센서 게이지 실시간 확인. AI 모델 '불량 확률 78%' 산출, 온도 게이지 빨간색(위험) 표시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Step 3 (08:37, P3 원인 분석) — SHAP Waterfall에서 '식각 온도(기여도 +0.34)' 1위 원인 지목. Dependence Plot에서 180°C 이상 구간 불량 급등 패턴 시각적 확인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Step 4 (08:40, P4 조치 가이드) — 팝업: '식각 온도 비정상 상승 → 정상 권장 범위 165~175°C로 하향 조정 요망'. 김 과장이 '수용' 버튼 클릭 → 조치 이력 P5에 자동 기록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Step 5 (09:00~, P1 확인) — 조치 후 #B-2253부터 불량률 2.1%로 정상 복귀 확인. 총 대응 시간: 약 30분 (기존 2~3일 → 95%+ 단축)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보조 시나리오: 박 팀장의 주간 리포트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매주 월요일 P5(이력 관리)에서 주간 불량률 추이, AI 감지 정확도, 반복 원인 Top 5를 확인. '식각 온도 이상이 3주 연속 주요 원인' 패턴 발견 → 설비 점검 일정 앞당기는 의사결정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 txBox="1"/>
          <p:nvPr/>
        </p:nvSpPr>
        <p:spPr>
          <a:xfrm>
            <a:off x="939333" y="1189703"/>
            <a:ext cx="42190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Case)</a:t>
            </a:r>
            <a:endParaRPr lang="ko-KR" altLang="en-US" dirty="0">
              <a:latin typeface="+mj-ea"/>
              <a:ea typeface="+mj-ea"/>
            </a:endParaRP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05126979-E795-B5FD-2861-875755BE23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0AF01168-01B8-DC74-BCBE-D88540B8F2E5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5E8FC-AF2C-579B-9590-CBF08559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09914A8-02ED-C312-A18A-F0400EE2D348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5AB79AF0-60D8-DAFD-ADA5-DCB0D1EDF471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6B1A2F3-666A-22BB-FF71-0DD83ECC923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6.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범위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(MVP Scope)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89685848-AB8F-A36C-25D5-DC70B40222B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34A7F8E4-A3AF-3E82-0313-AEF582DA229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97705F4-E4B5-B067-FB20-9054BFFE100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DE9DE420-DE7B-8768-0FC1-D2BA97FE1AF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11D661-D63D-C639-8CAF-6774EF15CEBB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본선에서 구현할 범위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End-to-End 사용자 경험이 완결되는 최소 범위를 MVP로 설정합니다. 핵심 원칙: '예측부터 조치까지 끊기지 않는 흐름'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[필수] P1 종합 대시보드: KPI 카드 + 알림 패널 + 불량률 추이 차트 — 완전 구현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[필수] P2 실시간 예측: 센서 게이지 + 배치별 불량 확률 + 시뮬레이터 스트리밍 — 완전 구현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[필수] P3 원인 분석: SHAP Summary + Waterfall + Dependence Plot — 완전 구현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[핵심 데모] P4 조치 가이드: 핵심 불량 시나리오 2~3개 + 원클릭 수용 버튼 — 시나리오 기반 구현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[확장] P5 이력 관리: 조치 이력 테이블 — 시간 여유 시 구현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데모 시나리오 (약 5분)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시뮬레이터 정상 스트리밍 → 이상 데이터 주입 → P1 경고 → P2 불량 확률 급등 → P3 SHAP 원인 지목 → P4 조치 가이드 확인 후 원클릭 수용 → P1 불량률 정상 복귀 확인. Predict → Explain → Act 전체 루프를 한 번의 시연으로 완결.</a:t>
            </a:r>
          </a:p>
          <a:p>
            <a:pPr algn="l">
              <a:spcAft>
                <a:spcPts val="600"/>
              </a:spcAft>
              <a:defRPr sz="1000" b="1">
                <a:solidFill>
                  <a:srgbClr val="C62828"/>
                </a:solidFill>
                <a:latin typeface="Malgun Gothic"/>
              </a:defRPr>
            </a:pPr>
            <a:r>
              <a:t>※ Fail-Safe: 네트워크 불안정 등 인프라 장애 대비, 사전 개발된 MVP 정상 구동 시연 영상을 별도 준비하여 평가 안정성 확보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사전 개발 전략 (예선 통과 후 ~ 본선 전 9일간)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~5/18: 데이터 전처리 파이프라인 + XGBoost 모델 학습·저장 완료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~5/19: SHAP Explainer 사전 계산·캐싱 완료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~5/20: Streamlit 페이지 골격(레이아웃+네비게이션) 완성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~5/21: 시뮬레이터(정상/이상 시나리오) 데이터 세트 준비</a:t>
            </a:r>
          </a:p>
          <a:p>
            <a:pPr algn="l">
              <a:spcAft>
                <a:spcPts val="200"/>
              </a:spcAft>
              <a:defRPr sz="1000" b="1">
                <a:solidFill>
                  <a:srgbClr val="202124"/>
                </a:solidFill>
                <a:latin typeface="Malgun Gothic"/>
              </a:defRPr>
            </a:pPr>
            <a:r>
              <a:t>→ 본선 당일에는 '조립 + 연결 + 시각적 완성도 높이기'에 집중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120F58-8315-85C3-52C9-14AFDA96469F}"/>
              </a:ext>
            </a:extLst>
          </p:cNvPr>
          <p:cNvSpPr txBox="1"/>
          <p:nvPr/>
        </p:nvSpPr>
        <p:spPr>
          <a:xfrm>
            <a:off x="939333" y="1189703"/>
            <a:ext cx="42190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MVP </a:t>
            </a:r>
            <a:r>
              <a:rPr lang="ko-KR" altLang="en-US" dirty="0">
                <a:latin typeface="+mj-ea"/>
                <a:ea typeface="+mj-ea"/>
              </a:rPr>
              <a:t>구현 범위</a:t>
            </a:r>
            <a:r>
              <a:rPr lang="en-US" altLang="ko-KR" dirty="0">
                <a:latin typeface="+mj-ea"/>
                <a:ea typeface="+mj-ea"/>
              </a:rPr>
              <a:t>(MVP Scope)</a:t>
            </a:r>
            <a:endParaRPr lang="ko-KR" altLang="en-US" dirty="0">
              <a:latin typeface="+mj-ea"/>
              <a:ea typeface="+mj-ea"/>
            </a:endParaRPr>
          </a:p>
        </p:txBody>
      </p:sp>
      <p:pic>
        <p:nvPicPr>
          <p:cNvPr id="4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01E17689-E744-2C0D-412D-DE9C1722A6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26036DA-B835-FA25-3FC1-05D1768A0924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848951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F9DE8-42A8-681C-5E1B-73196E0C9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cxnSp>
        <p:nvCxnSpPr>
          <p:cNvPr id="2" name="Google Shape;99;p2">
            <a:extLst>
              <a:ext uri="{FF2B5EF4-FFF2-40B4-BE49-F238E27FC236}">
                <a16:creationId xmlns:a16="http://schemas.microsoft.com/office/drawing/2014/main" id="{662CCC3A-67D3-9E2D-ED85-F4ACDA9881F3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648C386E-E25E-A7E0-794C-23D5AC7A557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AEAEAE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8" name="Google Shape;92;p1">
            <a:extLst>
              <a:ext uri="{FF2B5EF4-FFF2-40B4-BE49-F238E27FC236}">
                <a16:creationId xmlns:a16="http://schemas.microsoft.com/office/drawing/2014/main" id="{DEF02F1E-697C-7F56-95DC-71E50216EDFC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15547"/>
            <a:ext cx="1007955" cy="35340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 txBox="1"/>
          <p:nvPr/>
        </p:nvSpPr>
        <p:spPr>
          <a:xfrm>
            <a:off x="939333" y="1189703"/>
            <a:ext cx="4308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F9243552-6E4F-42E8-93DC-3EB0B30CBB0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 txBox="1"/>
          <p:nvPr/>
        </p:nvSpPr>
        <p:spPr>
          <a:xfrm>
            <a:off x="700000" y="1600000"/>
            <a:ext cx="10800000" cy="48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정량적 기대 효과</a:t>
            </a:r>
            <a:endParaRPr lang="en-US" altLang="ko-KR" sz="1400" b="1" dirty="0">
              <a:solidFill>
                <a:srgbClr val="3C7CDE"/>
              </a:solidFill>
            </a:endParaRP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불량 감지 시점: 최종 검사(사후) → 공정 중간(사전 예측) — 70%+ 사전 감지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불량 원인 분석 시간: 평균 2~3일(수기) → 실시간 자동 분석 — 99% 단축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불량 대응 총 소요 시간: 수일 → 30분 이내 — 95%+ 단축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연간 불량 관련 손실 비용: 20% 이상 절감 (중소기업 기준 수천만 원)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정성적 기대 효과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데이터 기반 품질 문화 정착: 경험·직감 의존 → AI 근거 기반 의사결정 전환. 조치 이력 자동 축적으로 조직 지식 체계화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현장 작업자 역량 강화: AI가 작업자를 대체하는 것이 아니라 보강(Augmentation). SHAP 시각화를 통해 공정 변수 간 관계를 자연스럽게 학습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중소기업 스마트 팩토리 진입 장벽 해소: 별도 데이터팀 없이 Python 기반 오픈소스 스택으로 즉시 도입 가능. 경기도 스마트공장 보급 확산 사업 취지와 정확히 부합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현장 적용 가능성</a:t>
            </a:r>
          </a:p>
          <a:p>
            <a:pPr algn="l">
              <a:spcAft>
                <a:spcPts val="6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MVP에서 현장 도입으로의 전환 비용이 낮습니다. Streamlit이 Python 생태계 위에서 동작하므로 데이터 소스만 교체(오픈 데이터셋 → MES/센서 API)하면 AI 파이프라인과 UI가 그대로 유지됩니다.</a:t>
            </a:r>
          </a:p>
          <a:p>
            <a:pPr algn="l">
              <a:spcAft>
                <a:spcPts val="200"/>
              </a:spcAft>
              <a:defRPr sz="1300" b="1">
                <a:solidFill>
                  <a:srgbClr val="202124"/>
                </a:solidFill>
                <a:latin typeface="Malgun Gothic"/>
              </a:defRPr>
            </a:pPr>
            <a:r>
              <a:t>향후 고도화 로드맵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Phase 1 (도입 후 1~3개월): 다중 공정 지원 + 자동 재학습(Auto-Retrain)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Phase 2 (3~6개월): 설비 고장 예지 모듈 추가 → 품질+설비 통합 관리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202124"/>
                </a:solidFill>
                <a:latin typeface="Malgun Gothic"/>
              </a:defRPr>
            </a:pPr>
            <a:r>
              <a:t>• Phase 3 (6~12개월): 생산 계획 최적화 + 안전 관리 → 중소기업형 통합 스마트 공장 플랫폼으로 확장</a:t>
            </a:r>
          </a:p>
        </p:txBody>
      </p:sp>
      <p:pic>
        <p:nvPicPr>
          <p:cNvPr id="13" name="Picture 2" descr="차세대융합기술연구원, 반도체 부품 국산화 위한 기술 실증 지원사업 참여 기업 모집 &gt; 뉴스 | CIOCISO">
            <a:extLst>
              <a:ext uri="{FF2B5EF4-FFF2-40B4-BE49-F238E27FC236}">
                <a16:creationId xmlns:a16="http://schemas.microsoft.com/office/drawing/2014/main" id="{8749BE17-5128-AC43-85F8-6B97395030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34" b="35256"/>
          <a:stretch>
            <a:fillRect/>
          </a:stretch>
        </p:blipFill>
        <p:spPr bwMode="auto">
          <a:xfrm>
            <a:off x="9298782" y="6434300"/>
            <a:ext cx="1555879" cy="33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FD31846E-1545-CCE0-0B44-9A65BC1534A7}"/>
              </a:ext>
            </a:extLst>
          </p:cNvPr>
          <p:cNvSpPr txBox="1"/>
          <p:nvPr/>
        </p:nvSpPr>
        <p:spPr>
          <a:xfrm>
            <a:off x="8775865" y="229867"/>
            <a:ext cx="3044336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스마트 공장 운영 시스템 </a:t>
            </a:r>
            <a:r>
              <a:rPr lang="en-US" altLang="ko-KR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MVP </a:t>
            </a:r>
            <a:r>
              <a:rPr lang="ko-KR" altLang="en-US"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</a:t>
            </a:r>
            <a:r>
              <a:rPr lang="ko-KR" altLang="en-US"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해커톤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446</Words>
  <Application>Microsoft Macintosh PowerPoint</Application>
  <PresentationFormat>와이드스크린</PresentationFormat>
  <Paragraphs>66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Malgun Gothic</vt:lpstr>
      <vt:lpstr>Malgun Gothic</vt:lpstr>
      <vt:lpstr>Pretendard_KR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83</cp:revision>
  <dcterms:created xsi:type="dcterms:W3CDTF">2024-05-21T00:00:56Z</dcterms:created>
  <dcterms:modified xsi:type="dcterms:W3CDTF">2026-04-22T06:04:35Z</dcterms:modified>
</cp:coreProperties>
</file>