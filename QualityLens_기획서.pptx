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8" r:id="rId3"/>
    <p:sldId id="279" r:id="rId4"/>
    <p:sldId id="280" r:id="rId5"/>
    <p:sldId id="273" r:id="rId6"/>
    <p:sldId id="281" r:id="rId7"/>
    <p:sldId id="283" r:id="rId8"/>
    <p:sldId id="28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1B23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33"/>
    <p:restoredTop sz="94648"/>
  </p:normalViewPr>
  <p:slideViewPr>
    <p:cSldViewPr snapToGrid="0">
      <p:cViewPr varScale="1">
        <p:scale>
          <a:sx n="95" d="100"/>
          <a:sy n="95" d="100"/>
        </p:scale>
        <p:origin x="2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2" Type="http://customschemas.google.com/relationships/presentationmetadata" Target="meta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/>
          <p:cNvSpPr txBox="1"/>
          <p:nvPr/>
        </p:nvSpPr>
        <p:spPr>
          <a:xfrm>
            <a:off x="2631231" y="1570963"/>
            <a:ext cx="6929531" cy="136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2026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 스마트 공장 운영 시스템 </a:t>
            </a: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MVP 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개발 </a:t>
            </a:r>
            <a:r>
              <a:rPr lang="ko-KR" altLang="en-US" sz="3600" b="1" dirty="0" err="1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해커톤</a:t>
            </a:r>
            <a:endParaRPr lang="en-US" altLang="ko-KR" sz="3600" b="1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259346336"/>
              </p:ext>
            </p:extLst>
          </p:nvPr>
        </p:nvGraphicFramePr>
        <p:xfrm>
          <a:off x="3386675" y="4388003"/>
          <a:ext cx="5418650" cy="899000"/>
        </p:xfrm>
        <a:graphic>
          <a:graphicData uri="http://schemas.openxmlformats.org/drawingml/2006/table">
            <a:tbl>
              <a:tblPr firstRow="1" bandRow="1"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Malgun Gothic"/>
                        </a:defRPr>
                      </a:pPr>
                      <a:r>
                        <a:t>QualityLens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프로젝트명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Malgun Gothic"/>
                        </a:defRPr>
                      </a:pPr>
                      <a:r>
                        <a:t>QualityLens — AI 기반 스마트 품질 예측·원인 분석 통합 플랫폼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613855372"/>
                  </a:ext>
                </a:extLst>
              </a:tr>
            </a:tbl>
          </a:graphicData>
        </a:graphic>
      </p:graphicFrame>
      <p:cxnSp>
        <p:nvCxnSpPr>
          <p:cNvPr id="94" name="Google Shape;94;p1"/>
          <p:cNvCxnSpPr/>
          <p:nvPr/>
        </p:nvCxnSpPr>
        <p:spPr>
          <a:xfrm>
            <a:off x="2310447" y="2956202"/>
            <a:ext cx="75711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8F6F64B-B445-0E07-4C6D-0A33DC6483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6EC716A2-5020-43D4-0492-05DB61857621}"/>
              </a:ext>
            </a:extLst>
          </p:cNvPr>
          <p:cNvSpPr txBox="1"/>
          <p:nvPr/>
        </p:nvSpPr>
        <p:spPr>
          <a:xfrm>
            <a:off x="4645453" y="3065537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0" i="0" dirty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예선 기획서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CB1259FB-3BC9-1F76-5145-01C9E5C371C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1.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A7330DB1-95E4-4D38-F6A4-9BB98AC14BD1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48CD7EDD-FD6F-B8B4-97AA-853BC09F0B0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3195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1. </a:t>
            </a:r>
            <a:r>
              <a:rPr lang="ko-KR" altLang="en-US" dirty="0">
                <a:latin typeface="+mj-ea"/>
                <a:ea typeface="+mj-ea"/>
              </a:rPr>
              <a:t>문제 정의 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E1A0B1D-D56D-F247-A463-80FCAC8780BB}"/>
              </a:ext>
            </a:extLst>
          </p:cNvPr>
          <p:cNvSpPr txBox="1"/>
          <p:nvPr/>
        </p:nvSpPr>
        <p:spPr>
          <a:xfrm>
            <a:off x="700000" y="1600000"/>
            <a:ext cx="10800000" cy="48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해결하고자 하는 제조 현장의 문제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경기도 내 중소 전자부품 제조사들은 수백 개 공정 센서 데이터를 보유하면서도, 전문 분석 인력 부재로 최종 검사 이후에야 불량을 확인하는 '사후 대응'에 의존. 데이터 기반 예방적 품질 관리가 시급함.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적용 대상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경기도 스마트공장 보급 확산 사업 대상 중소 전자부품 제조사의 QC 부서 및 생산 현장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→ 공정 중간 단계에서 불량 징후 사전 감지 + 현장 작업자 즉각 조치 지원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문제의 중요성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평균 불량률 3~8%, 불량 1건당 원자재·재작업 비용 수십만~수백만 원 직접 손실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분석 인력 부재 → 원인 분석 평균 2~3일 소요 → 동일 원인 반복 불량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공정 변수 간 복합 상호작용 → 경험만으로 근본 원인 파악 불가 → AI 필수 영역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KPI / 기대 변화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불량 사전 감지율: 0%(사후 검사) → 70%+ (공정 중 사전 예측)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원인 분석 시간: 2~3일 → 실시간 (AI 자동 변수 기여도 제시)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연간 불량 손실 비용: 20%+ 절감 목표</a:t>
            </a:r>
          </a:p>
        </p:txBody>
      </p:sp>
      <p:sp>
        <p:nvSpPr>
          <p:cNvPr id="12" name="Google Shape;100;p2">
            <a:extLst>
              <a:ext uri="{FF2B5EF4-FFF2-40B4-BE49-F238E27FC236}">
                <a16:creationId xmlns:a16="http://schemas.microsoft.com/office/drawing/2014/main" id="{A89DAF47-A872-25DE-4F4E-6A35741F0D6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BEB92B5-54A5-698D-BCC7-53FCC2DB5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F5F4-E7D0-4278-C766-15538099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250B76DD-037A-6065-6C19-E692AEE22FB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37E35A3E-9640-A8FF-B4C4-60FCEC5351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AD104C8F-EA2D-31A6-F3F6-3F686D73F3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 txBox="1"/>
          <p:nvPr/>
        </p:nvSpPr>
        <p:spPr>
          <a:xfrm>
            <a:off x="939333" y="1189703"/>
            <a:ext cx="3553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1628004-1AB5-0077-6D18-66ED08E03B10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384030-AD97-CF1C-87BF-7D94D6FE4AED}"/>
              </a:ext>
            </a:extLst>
          </p:cNvPr>
          <p:cNvSpPr txBox="1"/>
          <p:nvPr/>
        </p:nvSpPr>
        <p:spPr>
          <a:xfrm>
            <a:off x="700000" y="1600000"/>
            <a:ext cx="10800000" cy="48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QualityLens — AI 품질 예측·원인 분석 통합 플랫폼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공정 센서 데이터를 AI가 실시간 분석하여 불량 가능성을 사전 감지하고, 설명 가능 AI(XAI)로 '어떤 변수가 불량을 유발하는지' 현장 작업자 눈높이에서 시각 제시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핵심 프레임워크 — Predict → Explain → Act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Predict: XGBoost 분류 모델 → 양품/불량 실시간 예측, MCC 기반 최적화로 클래스 불균형 극복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Explain: SHAP(TreeExplainer) → 예측 근거를 공정 변수별 기여도로 분해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Act: SHAP 기여도 + 양품 통계 기준(Threshold) 결합 → Rule-based 조치 가이드 즉시 제시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플랫폼 목적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데이터 분석 전문가 없이 현장 QC 담당자가 직접 활용하는 '셀프서비스형 AI 품질 관리 도구'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→ 중소기업이 별도 데이터팀 없이 예방적 품질 관리 즉시 도입 가능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전체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데이터 수집: 센서 파이프라인 (MVP: 오픈 데이터셋 기반 스트리밍 시뮬레이터)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AI 엔진: XGBoost + SHAP + Threshold Engine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플랫폼 UI: Streamlit 멀티페이지 대시보드 (모니터링·예측·분석·조치·이력)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조치 지원: 알림 + 원클릭 수용 (이상 감지 시 권장 조치 자동 제시)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7E78191-AC7B-4431-6348-9F9503FA34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B25F51EC-3983-E3FC-5475-1180B8764FD0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27285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D086-7FAD-83A2-673F-CD401C76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AF58BFF4-5D90-B7BB-A5FB-15DD1784476A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CBEF9D9D-82FE-E102-BEBE-5DB9646F8C7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9F24ED86-00F9-D00A-872B-AD59A51EEFD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 txBox="1"/>
          <p:nvPr/>
        </p:nvSpPr>
        <p:spPr>
          <a:xfrm>
            <a:off x="939333" y="1189703"/>
            <a:ext cx="3433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주요 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B46F3FE-8810-F742-96B1-76FE8CAEE9B6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2C9FDC-589C-024C-4DAF-8D28BA7962EF}"/>
              </a:ext>
            </a:extLst>
          </p:cNvPr>
          <p:cNvSpPr txBox="1"/>
          <p:nvPr/>
        </p:nvSpPr>
        <p:spPr>
          <a:xfrm>
            <a:off x="700000" y="1600000"/>
            <a:ext cx="10800000" cy="48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기능 1 — 실시간 공정 모니터링 &amp; 불량 예측 (Predict)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센서 데이터 실시간 수집·시각화, XGBoost 모델이 배치별 양품/불량 확률 산출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정상/경고/위험 3단계 컬러 코딩 → 비전문가도 즉시 이상 인지. MCC 기반 모델 평가 적용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기능 2 — XAI 기반 불량 원인 분석 (Explain)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SHAP으로 예측 근거를 공정 변수별 기여도로 분해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글로벌 피처 중요도(전체 트렌드) + 개별 Waterfall(건별 원인) 동시 제공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기능 3 — 조치 가이드 &amp; 이력 관리 (Act)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SHAP 지목 이상 변수 + 양품 통계 정상 범위(Threshold) 비교·분석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→ 구체적 조치 방향 팝업 제시 (예: '온도 165~175°C로 하향 조정 요망')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→ 원클릭 수용 버튼으로 조치 이력 자동 기록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기능 간 연계 — 순환 루프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예측 결과 → 원인 분석 입력 → 조치 가이드 근거 → 피드백 → 예측 모델 재학습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종합 대시보드(P1)가 전체 흐름의 허브 역할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본선 MVP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P1(대시보드) + P2(예측) + P3(분석): 완전 구현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P4(조치 가이드): 핵심 불량 시나리오 데모 구현 → End-to-End 사용자 경험 시연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5C56526-1A7E-EE3B-1FB2-69A678931E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F184EC9F-8B26-D1F2-0ED1-8EC31B8C41EE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86CC-5FEA-6E0F-6607-8B8860B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0319987-BCA9-9ED0-C4BE-D430B5A78B7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A304978-B91A-D0F9-08E5-E6BCC204DD0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ED7841F-3F32-3698-0915-523541292295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계획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 Plan)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21B79617-C1F0-52D3-B070-B0E157FFF20E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E96B855B-7B6A-B904-E1A4-9B512CAD7D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E28D85C7-9402-2E2D-12C4-AE1F84F0991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A748C-1CE4-5657-178F-716B4A80432A}"/>
              </a:ext>
            </a:extLst>
          </p:cNvPr>
          <p:cNvSpPr txBox="1"/>
          <p:nvPr/>
        </p:nvSpPr>
        <p:spPr>
          <a:xfrm>
            <a:off x="939332" y="1189703"/>
            <a:ext cx="4069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데이터 및 기술 활용 계획 </a:t>
            </a:r>
            <a:r>
              <a:rPr lang="en-US" altLang="ko-KR" dirty="0">
                <a:latin typeface="+mj-ea"/>
                <a:ea typeface="+mj-ea"/>
              </a:rPr>
              <a:t>(Data &amp; Tech Plan)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74598198-5F31-F6FA-47DC-AA9059C06E01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4FC7CE-8E2B-C5DE-8F36-06CC621A459E}"/>
              </a:ext>
            </a:extLst>
          </p:cNvPr>
          <p:cNvSpPr txBox="1"/>
          <p:nvPr/>
        </p:nvSpPr>
        <p:spPr>
          <a:xfrm>
            <a:off x="700000" y="1600000"/>
            <a:ext cx="10800000" cy="48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활용 데이터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주 데이터셋: UCI SECOM — 실제 반도체 제조 라인 (1,567샘플 × 591센서, 불량 104건/6.6%)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보조 데이터셋: Kaggle Smart Manufacturing — 직관적 공정 파라미터(온도/압력/진동/유량) 보강용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데이터 처리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결측치: 센서별 결측률 분석 → 고결측 피처 제거 + KNN Imputation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피처 선택: 분산 필터링 + 상관관계 중복 제거 → 상위 50~80개 핵심 피처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데이터 누수 방지: Stratified Split → Train에만 SMOTE·정규화 적용 (엄격한 Pipeline 구축)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AI/분석 기술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XGBoost: 비선형 상호작용 학습, 빠른 추론, GPU 불필요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SHAP (TreeExplainer): 개별 예측의 피처별 기여도 실시간 분해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Threshold Engine: 양품 통계 기준으로 조치 방향 및 권장 범위 자동 생성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평가 지표: MCC(주) + Precision-Recall, F1-Score(보조)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202124"/>
                </a:solidFill>
                <a:latin typeface="Malgun Gothic"/>
              </a:defRPr>
            </a:pPr>
            <a:r>
              <a:t>기술 스택: Streamlit | XGBoost | SHAP | Plotly | Pandas | scikit-learn | imbalanced-learn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기술적 제약 → 해결 전략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컴퓨팅 미제공 → Streamlit + XGBoost 로컬 구동 (GPU 불필요)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실시간 연동 불가 → 오픈 데이터 기반 스트리밍 시뮬레이터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데이터 불균형(6.6%) → SMOTE + MCC + Stratified K-Fold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C3D6C61D-BBDC-1167-190C-BD4CD9BF21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A5283CA2-90DA-09BA-1082-399479A662C8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83210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5F2F-DE76-5319-E068-14743C84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AE7259-26F0-06A2-EAF0-0D348222D14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84726C7-DE11-80A0-7DC0-A7AA122EF94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4C676688-A4F9-28A5-585E-15C4791A36ED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Case)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9FEEE123-BAF0-A0FD-15FF-1DB31311C4F2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FD89DB19-FF6A-0CDA-AF62-F36E28F99C4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1C89922-1506-2D6C-C1C7-A35B619FBB4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03726A74-16E1-92E8-6C23-4217F6189B6D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BE20A8A-50DC-1699-36DC-DE2652FD7726}"/>
              </a:ext>
            </a:extLst>
          </p:cNvPr>
          <p:cNvSpPr txBox="1"/>
          <p:nvPr/>
        </p:nvSpPr>
        <p:spPr>
          <a:xfrm>
            <a:off x="700000" y="1600000"/>
            <a:ext cx="10800000" cy="48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주요 사용자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페르소나 A — 김 과장 (QC): 공정 경력 8년, 데이터 분석 무경험. 매일 P1~P4 전체 사용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페르소나 B — 박 팀장 (생산): 주간 리포트 검토, 의사결정권자. 주 1~2회 P1, P5 활용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대표 시나리오: 식각 공정 온도 이상 → 불량 급증 대응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400" b="0">
                <a:solidFill>
                  <a:srgbClr val="333333"/>
                </a:solidFill>
                <a:latin typeface="Malgun Gothic"/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202124"/>
                </a:solidFill>
                <a:latin typeface="Malgun Gothic"/>
              </a:defRPr>
            </a:pPr>
            <a:r>
              <a:t>Step 1 (08:30, P1 대시보드)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출근 후 접속 → '금일 불량률 12.3% (+6.1%p)' 경고 + '배치 #B-2247~2251 연속 불량' 알림 확인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202124"/>
                </a:solidFill>
                <a:latin typeface="Malgun Gothic"/>
              </a:defRPr>
            </a:pPr>
            <a:r>
              <a:t>Step 2 (08:35, P2 실시간 예측)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진행 중 배치 #B-2252 → AI 불량 확률 78% 산출, 온도 게이지 빨간색(위험) 표시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202124"/>
                </a:solidFill>
                <a:latin typeface="Malgun Gothic"/>
              </a:defRPr>
            </a:pPr>
            <a:r>
              <a:t>Step 3 (08:37, P3 원인 분석)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SHAP Waterfall: '식각 온도(기여도 +0.34)' 1위 → Dependence Plot에서 180°C 이상 불량 급등 확인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202124"/>
                </a:solidFill>
                <a:latin typeface="Malgun Gothic"/>
              </a:defRPr>
            </a:pPr>
            <a:r>
              <a:t>Step 4 (08:40, P4 조치 가이드)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팝업: '식각 온도 → 165~175°C 하향 조정 요망' → '수용' 버튼 클릭 → 이력 자동 기록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202124"/>
                </a:solidFill>
                <a:latin typeface="Malgun Gothic"/>
              </a:defRPr>
            </a:pPr>
            <a:r>
              <a:t>Step 5 (09:00, P1 확인)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조치 후 #B-2253부터 불량률 2.1% 정상 복귀. 총 대응 시간: 약 30분 (기존 2~3일 대비 95%+ 단축)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보조 시나리오: 주간 리포트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박 팀장 → P5에서 주간 불량 추이, 반복 원인 Top 5 확인 → '식각 온도 3주 연속 주요 원인' → 설비 점검 앞당기기 의사결정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B6FD35-8911-88CB-877F-E612391C583D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Case)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5126979-E795-B5FD-2861-875755BE23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0AF01168-01B8-DC74-BCBE-D88540B8F2E5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18710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5E8FC-AF2C-579B-9590-CBF085597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09914A8-02ED-C312-A18A-F0400EE2D348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5AB79AF0-60D8-DAFD-ADA5-DCB0D1EDF47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6B1A2F3-666A-22BB-FF71-0DD83ECC923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6.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범위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(MVP Scope)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89685848-AB8F-A36C-25D5-DC70B40222B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34A7F8E4-A3AF-3E82-0313-AEF582DA22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97705F4-E4B5-B067-FB20-9054BFFE100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E9DE420-DE7B-8768-0FC1-D2BA97FE1AF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11D661-D63D-C639-8CAF-6774EF15CEBB}"/>
              </a:ext>
            </a:extLst>
          </p:cNvPr>
          <p:cNvSpPr txBox="1"/>
          <p:nvPr/>
        </p:nvSpPr>
        <p:spPr>
          <a:xfrm>
            <a:off x="700000" y="1600000"/>
            <a:ext cx="10800000" cy="48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본선 구현 범위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End-to-End 사용자 경험 완결 최소 범위. 원칙: '예측→조치까지 끊기지 않는 흐름'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[필수] P1 대시보드: KPI 카드 + 알림 패널 + 불량률 추이 — 완전 구현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[필수] P2 실시간 예측: 센서 게이지 + 배치별 확률 + 시뮬레이터 — 완전 구현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[필수] P3 원인 분석: SHAP Summary + Waterfall + Dependence Plot — 완전 구현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[핵심 데모] P4 조치 가이드: 핵심 시나리오 2~3개 + 원클릭 수용 — 시나리오 기반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[확장] P5 이력 관리: 조치 이력 테이블 — 시간 여유 시 구현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데모 시나리오 (약 5분)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정상 스트리밍 → 이상 주입 → P1 경고 → P2 불량 확률 급등 → P3 원인 지목 → P4 조치 수용 → P1 정상 복귀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→ Predict → Explain → Act 전체 루프를 한 번의 시연으로 완결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1">
                <a:solidFill>
                  <a:srgbClr val="C62828"/>
                </a:solidFill>
                <a:latin typeface="Malgun Gothic"/>
              </a:defRPr>
            </a:pPr>
            <a:r>
              <a:t>※ Fail-Safe: 인프라 장애 대비, MVP 정상 구동 시연 영상 사전 준비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사전 개발 전략 (예선 통과 후 ~ 본선 전 9일)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~5/18: 데이터 전처리 파이프라인 + XGBoost 학습·저장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~5/19: SHAP Explainer 사전 계산·캐싱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~5/20: Streamlit 페이지 골격 (레이아웃 + 네비게이션)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~5/21: 시뮬레이터 데이터 세트 준비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→ 본선 당일: '조립 + 연결 + 시각적 완성도'에 집중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120F58-8315-85C3-52C9-14AFDA96469F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MVP </a:t>
            </a:r>
            <a:r>
              <a:rPr lang="ko-KR" altLang="en-US" dirty="0">
                <a:latin typeface="+mj-ea"/>
                <a:ea typeface="+mj-ea"/>
              </a:rPr>
              <a:t>구현 범위</a:t>
            </a:r>
            <a:r>
              <a:rPr lang="en-US" altLang="ko-KR" dirty="0">
                <a:latin typeface="+mj-ea"/>
                <a:ea typeface="+mj-ea"/>
              </a:rPr>
              <a:t>(MVP Scope)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1E17689-E744-2C0D-412D-DE9C1722A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926036DA-B835-FA25-3FC1-05D1768A092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4895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9DE8-42A8-681C-5E1B-73196E0C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662CCC3A-67D3-9E2D-ED85-F4ACDA9881F3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648C386E-E25E-A7E0-794C-23D5AC7A557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DEF02F1E-697C-7F56-95DC-71E50216EDF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 txBox="1"/>
          <p:nvPr/>
        </p:nvSpPr>
        <p:spPr>
          <a:xfrm>
            <a:off x="939333" y="1189703"/>
            <a:ext cx="4308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F9243552-6E4F-42E8-93DC-3EB0B30CBB0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BA99FA-B21D-F75D-948E-7068D40928E0}"/>
              </a:ext>
            </a:extLst>
          </p:cNvPr>
          <p:cNvSpPr txBox="1"/>
          <p:nvPr/>
        </p:nvSpPr>
        <p:spPr>
          <a:xfrm>
            <a:off x="700000" y="1600000"/>
            <a:ext cx="10800000" cy="48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정량적 기대 효과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불량 감지: 최종 검사(사후) → 공정 중간(사전) — 70%+ 사전 감지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원인 분석: 2~3일(수기) → 실시간 자동 — 99% 단축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대응 시간: 수일 → 30분 이내 — 95%+ 단축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손실 비용: 연간 20%+ 절감 (중소기업 기준 수천만 원)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정성적 기대 효과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데이터 기반 품질 문화 정착: 경험·직감 → AI 근거 기반 의사결정 전환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현장 역량 강화: AI가 대체가 아닌 보강(Augmentation), SHAP으로 공정 학습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중소기업 진입 장벽 해소: 데이터팀 없이 Python 오픈소스로 즉시 도입 가능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현장 적용 가능성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MVP → 현장 전환 비용이 낮음. 데이터 소스만 교체(오픈 데이터 → MES/센서 API)하면 AI 파이프라인·UI 그대로 유지</a:t>
            </a:r>
          </a:p>
          <a:p>
            <a:pPr algn="l">
              <a:spcBef>
                <a:spcPts val="400"/>
              </a:spcBef>
              <a:spcAft>
                <a:spcPts val="100"/>
              </a:spcAft>
              <a:defRPr sz="1400" b="1">
                <a:solidFill>
                  <a:srgbClr val="1A478A"/>
                </a:solidFill>
                <a:latin typeface="Malgun Gothic"/>
              </a:defRPr>
            </a:pPr>
            <a:r>
              <a:t>향후 고도화 로드맵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Phase 1 (1~3개월): 다중 공정 지원 + 자동 재학습(Auto-Retrain)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Phase 2 (3~6개월): 설비 고장 예지 모듈 → 품질+설비 통합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333333"/>
                </a:solidFill>
                <a:latin typeface="Malgun Gothic"/>
              </a:defRPr>
            </a:pPr>
            <a:r>
              <a:t>• Phase 3 (6~12개월): 생산 계획 최적화 + 안전 관리 → 중소기업형 통합 스마트 공장 플랫폼</a:t>
            </a:r>
          </a:p>
        </p:txBody>
      </p:sp>
      <p:pic>
        <p:nvPicPr>
          <p:cNvPr id="13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749BE17-5128-AC43-85F8-6B9739503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FD31846E-1545-CCE0-0B44-9A65BC1534A7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446</Words>
  <Application>Microsoft Macintosh PowerPoint</Application>
  <PresentationFormat>와이드스크린</PresentationFormat>
  <Paragraphs>66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Malgun Gothic</vt:lpstr>
      <vt:lpstr>Malgun Gothic</vt:lpstr>
      <vt:lpstr>Pretendard_KR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Dacon io</cp:lastModifiedBy>
  <cp:revision>83</cp:revision>
  <dcterms:created xsi:type="dcterms:W3CDTF">2024-05-21T00:00:56Z</dcterms:created>
  <dcterms:modified xsi:type="dcterms:W3CDTF">2026-04-22T06:04:35Z</dcterms:modified>
</cp:coreProperties>
</file>